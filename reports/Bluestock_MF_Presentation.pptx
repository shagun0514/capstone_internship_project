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6400800" cy="6400800"/>
          </a:xfrm>
          <a:prstGeom prst="ellipse">
            <a:avLst/>
          </a:prstGeom>
          <a:solidFill>
            <a:srgbClr val="1E3A5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BLUESTOCK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Mutual Fund Analytics Platform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8F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Final Capstone Presentation — ETL, Analytics &amp; Visualization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297680"/>
            <a:ext cx="20116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F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Prepared by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Shagun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937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github.com/Shagun0514/CapStone_Internship_Project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&amp; Objective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Bluestock's stakeholders — fund managers, distributors, and investors — lack a unified view across 40 mutual fund schemes: performance, risk, and investor behavior data sit in disconnected spreadsheets with no automated pipeline or interactive analytics layer.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Objective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55080" y="1901952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77393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 ETL for 6 raw datasets, zero manual steps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2322576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194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a normalized SQLite star schema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274320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6151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 15+ chart EDA with documented insights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55080" y="3163824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30358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Compute Sharpe, Sortino, Alpha, Beta, Max Drawdown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55080" y="3584448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34564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 a 4-page interactive Power BI dashboard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55080" y="4005072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38770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Extend into VaR/CVaR, cohort &amp; risk analytics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84632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8463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Delivered in 6 days: ETL → SQLite → EDA → Performance Metrics → Dashboard → Advanced Risk Analytics, plus 4 bonus challenges.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Sources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7FAF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91640"/>
            <a:ext cx="128016" cy="868680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645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fund_master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20574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 schemes — AMC, category, expense ratio, risk grade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7FAFC"/>
          </a:solidFill>
          <a:ln/>
        </p:spPr>
      </p:sp>
      <p:sp>
        <p:nvSpPr>
          <p:cNvPr id="8" name="Shape 6"/>
          <p:cNvSpPr/>
          <p:nvPr/>
        </p:nvSpPr>
        <p:spPr>
          <a:xfrm>
            <a:off x="6446520" y="1691640"/>
            <a:ext cx="128016" cy="868680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6720840" y="1645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nav_history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20840" y="20574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~46,000 daily NAV records (2022–2026)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7FAFC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246120"/>
            <a:ext cx="128016" cy="868680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200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scheme_performance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36118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Returns, alpha, beta, Sharpe, Sortino, AUM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301752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7FAFC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6520" y="3246120"/>
            <a:ext cx="128016" cy="868680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3200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investor_transactions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20840" y="36118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32,000+ SIP / lumpsum / redemption records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7FA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800600"/>
            <a:ext cx="128016" cy="868680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4754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portfolio_holdings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51560" y="51663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Stock &amp; sector-level allocations per scheme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457200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7FAFC"/>
          </a:solidFill>
          <a:ln/>
        </p:spPr>
      </p:sp>
      <p:sp>
        <p:nvSpPr>
          <p:cNvPr id="24" name="Shape 22"/>
          <p:cNvSpPr/>
          <p:nvPr/>
        </p:nvSpPr>
        <p:spPr>
          <a:xfrm>
            <a:off x="6446520" y="4800600"/>
            <a:ext cx="128016" cy="868680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4754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benchmark_indices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720840" y="51663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Nifty 50, Nifty 100, sectoral indices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Raw CSVs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(6 sources)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40280" y="233172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496312" y="201168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2496312" y="201168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ETL Pipeline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(pandas)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87952" y="233172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443984" y="201168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4443984" y="201168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SQLite Star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Schema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35624" y="233172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391656" y="201168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6391656" y="201168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EDA + Metrics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(scipy, matplotlib)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83296" y="233172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339328" y="201168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8339328" y="201168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Power BI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30968" y="233172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287000" y="201168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10287000" y="201168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Advanced Risk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657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 Schema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406908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Dimensions: dim_fund, dim_date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Facts: fact_nav, fact_transactions, fact_performance,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fact_aum, fact_sip_inflows, fact_category_inflows, fact_holdings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3657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09360" y="406908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pandas · numpy · scipy · SQLAlchemy · matplotlib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seaborn · Power BI Desktop · Windows Task Scheduler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EDA Highlights — NAV Trends (2022–2026)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Post-2022 correction recovery observed across categories, with equity funds outperforming debt and hybrid segments. Green/red bands mark the 2023 bull run and 2024 correction.</a:t>
            </a:r>
            <a:endParaRPr lang="en-US" sz="1300" dirty="0"/>
          </a:p>
        </p:txBody>
      </p:sp>
      <p:pic>
        <p:nvPicPr>
          <p:cNvPr id="4" name="Image 0" descr="images/chart_nav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852" y="1828800"/>
            <a:ext cx="10239817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EDA Highlights — SIP Inflow Trend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Monthly SIP inflows grew consistently from 2022, peaking at an all-time high of ₹31,002 Cr in December 2025 — reflecting strong and growing retail participation.</a:t>
            </a:r>
            <a:endParaRPr lang="en-US" sz="1300" dirty="0"/>
          </a:p>
        </p:txBody>
      </p:sp>
      <p:pic>
        <p:nvPicPr>
          <p:cNvPr id="4" name="Image 0" descr="images/chart_sip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47603"/>
            <a:ext cx="11064240" cy="39515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Performance Metrics — 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ratios annualized on 252 trading days · Risk-free rate Rf = 6.5% (RBI repo rate proxy)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7FA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Sharpe Ratio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0" y="1920240"/>
            <a:ext cx="0" cy="59436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03320" y="18288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(Mean daily return − Rf) / Std Dev × √252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7FAF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7432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Sortino Ratio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0" y="2834640"/>
            <a:ext cx="0" cy="59436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27432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Same, but denominator uses downside deviation only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7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6576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Alpha / Beta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74720" y="3749040"/>
            <a:ext cx="0" cy="59436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36576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OLS regression (scipy.stats.linregress) vs Nifty 100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7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5720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Max Drawdown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74720" y="4663440"/>
            <a:ext cx="0" cy="59436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45720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min(NAV / running_max − 1), with worst-date range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Fund Scorecard (0–100): 30% 3yr return + 25% Sharpe + 20% Alpha + 15% expense ratio (inverse) + 10% max drawdown (inverse)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Performance Metrics — Benchmark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5 funds by AUM tracked against Nifty 50 / Nifty 100 over a 3-year horizon (growth of ₹100 invested)</a:t>
            </a:r>
            <a:endParaRPr lang="en-US" sz="1300" dirty="0"/>
          </a:p>
        </p:txBody>
      </p:sp>
      <p:pic>
        <p:nvPicPr>
          <p:cNvPr id="4" name="Image 0" descr="images/benchmark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691640"/>
            <a:ext cx="7836408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 — Industry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8F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 AUM, SIP inflows, folios, and scheme count as KPI cards, with industry AUM trend and AUM by AMC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15600" cy="4846320"/>
          </a:xfrm>
          <a:prstGeom prst="roundRect">
            <a:avLst>
              <a:gd name="adj" fmla="val 943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5" name="Image 0" descr="images/dash_industry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2221" y="1691640"/>
            <a:ext cx="8077078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 — Fund Performance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8F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Risk vs return scatter, NAV vs Nifty 50 benchmark, and a sortable fund scorecard — with fund house, category, and plan slicers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15600" cy="4846320"/>
          </a:xfrm>
          <a:prstGeom prst="roundRect">
            <a:avLst>
              <a:gd name="adj" fmla="val 943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5" name="Image 0" descr="images/dash_fund_perform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5226" y="1691640"/>
            <a:ext cx="8091068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9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2801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Tail Risk Concentration — small/mid-cap funds show the highest downside exposure (VaR -2.7%, CVaR -3.2% for weakest performers).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9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4231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SIP Persistency Weakness — ~98% of investors with 6+ SIPs show payment gaps exceeding 35 days, a major retention risk.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9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5661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Diversification Misalignment — several "diversified" equity funds carry HHI &gt; 0.25, indicating hidden sector concentration.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800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9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7091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Investor cohorts differ — 2024 entrants show 12% higher retention and 18% larger average ticket size than 2025 entrants.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6400800" cy="6400800"/>
          </a:xfrm>
          <a:prstGeom prst="ellipse">
            <a:avLst/>
          </a:prstGeom>
          <a:solidFill>
            <a:srgbClr val="1E3A5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8F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Bluestock Mutual Fund Analytics Platform — Final Capstone Presentation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20116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Shagun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github.com/Shagun0514/CapStone_Internship_Project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2026-07-18T19:05:45Z</dcterms:created>
  <dcterms:modified xsi:type="dcterms:W3CDTF">2026-07-18T19:05:45Z</dcterms:modified>
</cp:coreProperties>
</file>